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72" r:id="rId5"/>
    <p:sldId id="259" r:id="rId6"/>
    <p:sldId id="265" r:id="rId7"/>
    <p:sldId id="261" r:id="rId8"/>
    <p:sldId id="269"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4660"/>
  </p:normalViewPr>
  <p:slideViewPr>
    <p:cSldViewPr snapToGrid="0">
      <p:cViewPr varScale="1">
        <p:scale>
          <a:sx n="84" d="100"/>
          <a:sy n="84" d="100"/>
        </p:scale>
        <p:origin x="81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nay Deep Chowdary Bandaru" userId="6a1b2f8e75bd28bd" providerId="LiveId" clId="{3CE634CA-7684-4A53-9704-6DF184E57C7B}"/>
    <pc:docChg chg="modSld">
      <pc:chgData name="Pranay Deep Chowdary Bandaru" userId="6a1b2f8e75bd28bd" providerId="LiveId" clId="{3CE634CA-7684-4A53-9704-6DF184E57C7B}" dt="2026-07-21T04:33:58.581" v="2" actId="12"/>
      <pc:docMkLst>
        <pc:docMk/>
      </pc:docMkLst>
      <pc:sldChg chg="modSp mod">
        <pc:chgData name="Pranay Deep Chowdary Bandaru" userId="6a1b2f8e75bd28bd" providerId="LiveId" clId="{3CE634CA-7684-4A53-9704-6DF184E57C7B}" dt="2026-07-21T03:39:31.515" v="1" actId="20577"/>
        <pc:sldMkLst>
          <pc:docMk/>
          <pc:sldMk cId="0" sldId="257"/>
        </pc:sldMkLst>
        <pc:spChg chg="mod">
          <ac:chgData name="Pranay Deep Chowdary Bandaru" userId="6a1b2f8e75bd28bd" providerId="LiveId" clId="{3CE634CA-7684-4A53-9704-6DF184E57C7B}" dt="2026-07-21T03:39:31.515" v="1" actId="20577"/>
          <ac:spMkLst>
            <pc:docMk/>
            <pc:sldMk cId="0" sldId="257"/>
            <ac:spMk id="3" creationId="{00000000-0000-0000-0000-000000000000}"/>
          </ac:spMkLst>
        </pc:spChg>
      </pc:sldChg>
      <pc:sldChg chg="modSp mod">
        <pc:chgData name="Pranay Deep Chowdary Bandaru" userId="6a1b2f8e75bd28bd" providerId="LiveId" clId="{3CE634CA-7684-4A53-9704-6DF184E57C7B}" dt="2026-07-21T04:33:58.581" v="2" actId="12"/>
        <pc:sldMkLst>
          <pc:docMk/>
          <pc:sldMk cId="0" sldId="258"/>
        </pc:sldMkLst>
        <pc:spChg chg="mod">
          <ac:chgData name="Pranay Deep Chowdary Bandaru" userId="6a1b2f8e75bd28bd" providerId="LiveId" clId="{3CE634CA-7684-4A53-9704-6DF184E57C7B}" dt="2026-07-21T04:33:58.581" v="2" actId="12"/>
          <ac:spMkLst>
            <pc:docMk/>
            <pc:sldMk cId="0" sldId="258"/>
            <ac:spMk id="7" creationId="{223DAF12-F2A0-E2BB-176F-2EDEC53A671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9F9BA8-D57A-49E9-AD1A-05661D9131A5}" type="datetimeFigureOut">
              <a:rPr lang="en-IN" smtClean="0"/>
              <a:t>21-07-2026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199CD-1CF6-4C6C-8BAE-CF52B323536D}"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EC199CD-1CF6-4C6C-8BAE-CF52B323536D}" type="slidenum">
              <a:rPr lang="en-IN" smtClean="0"/>
              <a:t>1</a:t>
            </a:fld>
            <a:endParaRPr lang="en-IN"/>
          </a:p>
        </p:txBody>
      </p:sp>
    </p:spTree>
    <p:extLst>
      <p:ext uri="{BB962C8B-B14F-4D97-AF65-F5344CB8AC3E}">
        <p14:creationId xmlns:p14="http://schemas.microsoft.com/office/powerpoint/2010/main" val="528796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3D1A7C43-7B27-4E61-93EF-5B451896CB07}" type="datetimeFigureOut">
              <a:rPr lang="en-IN" smtClean="0"/>
              <a:t>21-07-2026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118449-80F0-421A-9ACE-ECF9CB5A82A7}" type="slidenum">
              <a:rPr lang="en-IN" smtClean="0"/>
              <a:t>‹#›</a:t>
            </a:fld>
            <a:endParaRPr lang="en-IN"/>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D1A7C43-7B27-4E61-93EF-5B451896CB07}" type="datetimeFigureOut">
              <a:rPr lang="en-IN" smtClean="0"/>
              <a:t>21-07-2026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118449-80F0-421A-9ACE-ECF9CB5A82A7}" type="slidenum">
              <a:rPr lang="en-IN" smtClean="0"/>
              <a:t>‹#›</a:t>
            </a:fld>
            <a:endParaRPr lang="en-IN"/>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1A7C43-7B27-4E61-93EF-5B451896CB07}" type="datetimeFigureOut">
              <a:rPr lang="en-IN" smtClean="0"/>
              <a:t>21-07-2026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118449-80F0-421A-9ACE-ECF9CB5A82A7}" type="slidenum">
              <a:rPr lang="en-IN" smtClean="0"/>
              <a:t>‹#›</a:t>
            </a:fld>
            <a:endParaRPr lang="en-IN"/>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76672"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05728" y="1600200"/>
            <a:ext cx="5376672"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D1A7C43-7B27-4E61-93EF-5B451896CB07}" type="datetimeFigureOut">
              <a:rPr lang="en-IN" smtClean="0"/>
              <a:t>21-07-2026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B118449-80F0-421A-9ACE-ECF9CB5A82A7}" type="slidenum">
              <a:rPr lang="en-IN" smtClean="0"/>
              <a:t>‹#›</a:t>
            </a:fld>
            <a:endParaRPr lang="en-IN"/>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D1A7C43-7B27-4E61-93EF-5B451896CB07}" type="datetimeFigureOut">
              <a:rPr lang="en-IN" smtClean="0"/>
              <a:t>21-07-2026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B118449-80F0-421A-9ACE-ECF9CB5A82A7}" type="slidenum">
              <a:rPr lang="en-IN" smtClean="0"/>
              <a:t>‹#›</a:t>
            </a:fld>
            <a:endParaRPr lang="en-IN"/>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D1A7C43-7B27-4E61-93EF-5B451896CB07}" type="datetimeFigureOut">
              <a:rPr lang="en-IN" smtClean="0"/>
              <a:t>21-07-2026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B118449-80F0-421A-9ACE-ECF9CB5A82A7}" type="slidenum">
              <a:rPr lang="en-IN" smtClean="0"/>
              <a:t>‹#›</a:t>
            </a:fld>
            <a:endParaRPr lang="en-IN"/>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1A7C43-7B27-4E61-93EF-5B451896CB07}" type="datetimeFigureOut">
              <a:rPr lang="en-IN" smtClean="0"/>
              <a:t>21-07-2026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B118449-80F0-421A-9ACE-ECF9CB5A82A7}" type="slidenum">
              <a:rPr lang="en-IN" smtClean="0"/>
              <a:t>‹#›</a:t>
            </a:fld>
            <a:endParaRPr lang="en-IN"/>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3D1A7C43-7B27-4E61-93EF-5B451896CB07}" type="datetimeFigureOut">
              <a:rPr lang="en-IN" smtClean="0"/>
              <a:t>21-07-2026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B118449-80F0-421A-9ACE-ECF9CB5A82A7}" type="slidenum">
              <a:rPr lang="en-IN" smtClean="0"/>
              <a:t>‹#›</a:t>
            </a:fld>
            <a:endParaRPr lang="en-IN"/>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3D1A7C43-7B27-4E61-93EF-5B451896CB07}" type="datetimeFigureOut">
              <a:rPr lang="en-IN" smtClean="0"/>
              <a:t>21-07-2026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B118449-80F0-421A-9ACE-ECF9CB5A82A7}" type="slidenum">
              <a:rPr lang="en-IN" smtClean="0"/>
              <a:t>‹#›</a:t>
            </a:fld>
            <a:endParaRPr lang="en-IN"/>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D1A7C43-7B27-4E61-93EF-5B451896CB07}" type="datetimeFigureOut">
              <a:rPr lang="en-IN" smtClean="0"/>
              <a:t>21-07-2026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118449-80F0-421A-9ACE-ECF9CB5A82A7}" type="slidenum">
              <a:rPr lang="en-IN" smtClean="0"/>
              <a:t>‹#›</a:t>
            </a:fld>
            <a:endParaRPr lang="en-IN"/>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8"/>
            <a:ext cx="8070573"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D1A7C43-7B27-4E61-93EF-5B451896CB07}" type="datetimeFigureOut">
              <a:rPr lang="en-IN" smtClean="0"/>
              <a:t>21-07-2026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118449-80F0-421A-9ACE-ECF9CB5A82A7}" type="slidenum">
              <a:rPr lang="en-IN" smtClean="0"/>
              <a:t>‹#›</a:t>
            </a:fld>
            <a:endParaRPr lang="en-IN"/>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sp>
        <p:nvSpPr>
          <p:cNvPr id="1026" name="Title 1025"/>
          <p:cNvSpPr>
            <a:spLocks noGrp="1"/>
          </p:cNvSpPr>
          <p:nvPr>
            <p:ph type="title"/>
          </p:nvPr>
        </p:nvSpPr>
        <p:spPr>
          <a:xfrm>
            <a:off x="609600" y="274638"/>
            <a:ext cx="10972800" cy="1143000"/>
          </a:xfrm>
          <a:prstGeom prst="rect">
            <a:avLst/>
          </a:prstGeom>
          <a:noFill/>
          <a:ln w="9525">
            <a:noFill/>
          </a:ln>
        </p:spPr>
        <p:txBody>
          <a:bodyPr anchor="ctr" anchorCtr="0"/>
          <a:lstStyle/>
          <a:p>
            <a:pPr lvl="0"/>
            <a:r>
              <a:t>Click to edit Master title style</a:t>
            </a:r>
          </a:p>
        </p:txBody>
      </p:sp>
      <p:sp>
        <p:nvSpPr>
          <p:cNvPr id="1027" name="Text Placeholder 1026"/>
          <p:cNvSpPr>
            <a:spLocks noGrp="1"/>
          </p:cNvSpPr>
          <p:nvPr>
            <p:ph type="body" idx="1"/>
          </p:nvPr>
        </p:nvSpPr>
        <p:spPr>
          <a:xfrm>
            <a:off x="609600" y="1600200"/>
            <a:ext cx="10972800" cy="4525963"/>
          </a:xfrm>
          <a:prstGeom prst="rect">
            <a:avLst/>
          </a:prstGeom>
          <a:noFill/>
          <a:ln w="9525">
            <a:noFill/>
          </a:ln>
        </p:spPr>
        <p:txBody>
          <a:bodyPr/>
          <a:lstStyle/>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a:spLocks noGrp="1"/>
          </p:cNvSpPr>
          <p:nvPr>
            <p:ph type="dt" sz="half" idx="2"/>
          </p:nvPr>
        </p:nvSpPr>
        <p:spPr>
          <a:xfrm>
            <a:off x="609600" y="6245225"/>
            <a:ext cx="2844800" cy="476250"/>
          </a:xfrm>
          <a:prstGeom prst="rect">
            <a:avLst/>
          </a:prstGeom>
          <a:noFill/>
          <a:ln w="9525">
            <a:noFill/>
          </a:ln>
        </p:spPr>
        <p:txBody>
          <a:bodyPr/>
          <a:lstStyle>
            <a:lvl1pPr>
              <a:defRPr sz="1400"/>
            </a:lvl1pPr>
          </a:lstStyle>
          <a:p>
            <a:fld id="{3D1A7C43-7B27-4E61-93EF-5B451896CB07}" type="datetimeFigureOut">
              <a:rPr lang="en-IN" smtClean="0"/>
              <a:t>21-07-2026</a:t>
            </a:fld>
            <a:endParaRPr lang="en-IN"/>
          </a:p>
        </p:txBody>
      </p:sp>
      <p:sp>
        <p:nvSpPr>
          <p:cNvPr id="1029" name="Footer Placeholder 1028"/>
          <p:cNvSpPr>
            <a:spLocks noGrp="1"/>
          </p:cNvSpPr>
          <p:nvPr>
            <p:ph type="ftr" sz="quarter" idx="3"/>
          </p:nvPr>
        </p:nvSpPr>
        <p:spPr>
          <a:xfrm>
            <a:off x="4165600" y="6245225"/>
            <a:ext cx="3860800" cy="476250"/>
          </a:xfrm>
          <a:prstGeom prst="rect">
            <a:avLst/>
          </a:prstGeom>
          <a:noFill/>
          <a:ln w="9525">
            <a:noFill/>
          </a:ln>
        </p:spPr>
        <p:txBody>
          <a:bodyPr/>
          <a:lstStyle>
            <a:lvl1pPr algn="ctr">
              <a:defRPr sz="1400"/>
            </a:lvl1pPr>
          </a:lstStyle>
          <a:p>
            <a:endParaRPr lang="en-IN"/>
          </a:p>
        </p:txBody>
      </p:sp>
      <p:sp>
        <p:nvSpPr>
          <p:cNvPr id="1030" name="Slide Number Placeholder 1029"/>
          <p:cNvSpPr>
            <a:spLocks noGrp="1"/>
          </p:cNvSpPr>
          <p:nvPr>
            <p:ph type="sldNum" sz="quarter" idx="4"/>
          </p:nvPr>
        </p:nvSpPr>
        <p:spPr>
          <a:xfrm>
            <a:off x="8737600" y="6245225"/>
            <a:ext cx="2844800" cy="476250"/>
          </a:xfrm>
          <a:prstGeom prst="rect">
            <a:avLst/>
          </a:prstGeom>
          <a:noFill/>
          <a:ln w="9525">
            <a:noFill/>
          </a:ln>
        </p:spPr>
        <p:txBody>
          <a:bodyPr/>
          <a:lstStyle>
            <a:lvl1pPr algn="r">
              <a:defRPr sz="1400"/>
            </a:lvl1pPr>
          </a:lstStyle>
          <a:p>
            <a:fld id="{8B118449-80F0-421A-9ACE-ECF9CB5A82A7}"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30478" y="2127519"/>
            <a:ext cx="9144000" cy="926577"/>
          </a:xfrm>
        </p:spPr>
        <p:txBody>
          <a:bodyPr>
            <a:noAutofit/>
          </a:bodyPr>
          <a:lstStyle/>
          <a:p>
            <a:r>
              <a:rPr lang="en-AU" sz="2800" b="1" dirty="0">
                <a:latin typeface="Times New Roman" panose="02020603050405020304" pitchFamily="18" charset="0"/>
                <a:cs typeface="Times New Roman" panose="02020603050405020304" pitchFamily="18" charset="0"/>
              </a:rPr>
              <a:t>Analysis of Medical Imaging Errors and Their Improvements</a:t>
            </a:r>
            <a:endParaRPr lang="en-US" sz="2800" b="1" dirty="0">
              <a:solidFill>
                <a:srgbClr val="002060"/>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3"/>
          <a:stretch>
            <a:fillRect/>
          </a:stretch>
        </p:blipFill>
        <p:spPr>
          <a:xfrm>
            <a:off x="176216" y="179548"/>
            <a:ext cx="5514965" cy="1331852"/>
          </a:xfrm>
          <a:prstGeom prst="rect">
            <a:avLst/>
          </a:prstGeom>
        </p:spPr>
      </p:pic>
      <p:pic>
        <p:nvPicPr>
          <p:cNvPr id="6" name="Picture 5"/>
          <p:cNvPicPr>
            <a:picLocks noChangeAspect="1"/>
          </p:cNvPicPr>
          <p:nvPr/>
        </p:nvPicPr>
        <p:blipFill>
          <a:blip r:embed="rId4"/>
          <a:srcRect r="1100"/>
          <a:stretch>
            <a:fillRect/>
          </a:stretch>
        </p:blipFill>
        <p:spPr>
          <a:xfrm>
            <a:off x="5691183" y="196753"/>
            <a:ext cx="6255011" cy="1184569"/>
          </a:xfrm>
          <a:prstGeom prst="rect">
            <a:avLst/>
          </a:prstGeom>
        </p:spPr>
      </p:pic>
      <p:sp>
        <p:nvSpPr>
          <p:cNvPr id="8" name="TextBox 7"/>
          <p:cNvSpPr txBox="1"/>
          <p:nvPr/>
        </p:nvSpPr>
        <p:spPr>
          <a:xfrm>
            <a:off x="7944710" y="4768644"/>
            <a:ext cx="3366418" cy="646331"/>
          </a:xfrm>
          <a:prstGeom prst="rect">
            <a:avLst/>
          </a:prstGeom>
          <a:noFill/>
        </p:spPr>
        <p:txBody>
          <a:bodyPr wrap="square">
            <a:spAutoFit/>
          </a:bodyPr>
          <a:lstStyle/>
          <a:p>
            <a:pPr algn="l">
              <a:lnSpc>
                <a:spcPct val="100000"/>
              </a:lnSpc>
              <a:spcBef>
                <a:spcPts val="100"/>
              </a:spcBef>
            </a:pPr>
            <a:r>
              <a:rPr lang="en-US" b="1" spc="-10" dirty="0">
                <a:solidFill>
                  <a:schemeClr val="tx1"/>
                </a:solidFill>
                <a:latin typeface="Times New Roman" panose="02020603050405020304" pitchFamily="18" charset="0"/>
                <a:cs typeface="Times New Roman" panose="02020603050405020304" pitchFamily="18" charset="0"/>
              </a:rPr>
              <a:t>Guided</a:t>
            </a:r>
            <a:r>
              <a:rPr lang="en-US" b="1" spc="-90" dirty="0">
                <a:solidFill>
                  <a:schemeClr val="tx1"/>
                </a:solidFill>
                <a:latin typeface="Times New Roman" panose="02020603050405020304" pitchFamily="18" charset="0"/>
                <a:cs typeface="Times New Roman" panose="02020603050405020304" pitchFamily="18" charset="0"/>
              </a:rPr>
              <a:t> </a:t>
            </a:r>
            <a:r>
              <a:rPr lang="en-US" b="1" spc="-25" dirty="0">
                <a:solidFill>
                  <a:schemeClr val="tx1"/>
                </a:solidFill>
                <a:latin typeface="Times New Roman" panose="02020603050405020304" pitchFamily="18" charset="0"/>
                <a:cs typeface="Times New Roman" panose="02020603050405020304" pitchFamily="18" charset="0"/>
              </a:rPr>
              <a:t>by:</a:t>
            </a:r>
            <a:endParaRPr lang="en-US" b="1" dirty="0">
              <a:solidFill>
                <a:schemeClr val="tx1"/>
              </a:solidFill>
              <a:latin typeface="Times New Roman" panose="02020603050405020304" pitchFamily="18" charset="0"/>
              <a:cs typeface="Times New Roman" panose="02020603050405020304" pitchFamily="18" charset="0"/>
            </a:endParaRPr>
          </a:p>
          <a:p>
            <a:pPr marL="12700" marR="5080"/>
            <a:r>
              <a:rPr lang="en-US" spc="-25" dirty="0">
                <a:latin typeface="Times New Roman" panose="02020603050405020304" pitchFamily="18" charset="0"/>
                <a:cs typeface="Times New Roman" panose="02020603050405020304" pitchFamily="18" charset="0"/>
              </a:rPr>
              <a:t>Dr</a:t>
            </a:r>
            <a:r>
              <a:rPr lang="en-IN" dirty="0">
                <a:latin typeface="Times New Roman" panose="02020603050405020304" pitchFamily="18" charset="0"/>
                <a:cs typeface="Times New Roman" panose="02020603050405020304" pitchFamily="18" charset="0"/>
              </a:rPr>
              <a:t>. P. Mathivanan</a:t>
            </a:r>
            <a:endParaRPr lang="en-US" sz="1800" spc="-10" dirty="0">
              <a:solidFill>
                <a:schemeClr val="tx1"/>
              </a:solidFill>
              <a:latin typeface="Times New Roman" panose="02020603050405020304" pitchFamily="18" charset="0"/>
              <a:cs typeface="Times New Roman" panose="02020603050405020304" pitchFamily="18" charset="0"/>
            </a:endParaRPr>
          </a:p>
        </p:txBody>
      </p:sp>
      <p:sp>
        <p:nvSpPr>
          <p:cNvPr id="9" name="TextBox 8"/>
          <p:cNvSpPr txBox="1"/>
          <p:nvPr/>
        </p:nvSpPr>
        <p:spPr>
          <a:xfrm>
            <a:off x="1197766" y="5149350"/>
            <a:ext cx="3893574"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B. Pranay Deep Chowdary </a:t>
            </a:r>
          </a:p>
          <a:p>
            <a:r>
              <a:rPr lang="en-IN" dirty="0">
                <a:latin typeface="Times New Roman" panose="02020603050405020304" pitchFamily="18" charset="0"/>
                <a:cs typeface="Times New Roman" panose="02020603050405020304" pitchFamily="18" charset="0"/>
              </a:rPr>
              <a:t>(192472177)</a:t>
            </a:r>
          </a:p>
        </p:txBody>
      </p:sp>
      <p:sp>
        <p:nvSpPr>
          <p:cNvPr id="2" name="TextBox 1">
            <a:extLst>
              <a:ext uri="{FF2B5EF4-FFF2-40B4-BE49-F238E27FC236}">
                <a16:creationId xmlns:a16="http://schemas.microsoft.com/office/drawing/2014/main" id="{6AA11B9D-2409-CC1A-D813-550A02B231AE}"/>
              </a:ext>
            </a:extLst>
          </p:cNvPr>
          <p:cNvSpPr txBox="1"/>
          <p:nvPr/>
        </p:nvSpPr>
        <p:spPr>
          <a:xfrm>
            <a:off x="1730478" y="3476576"/>
            <a:ext cx="8951976" cy="400110"/>
          </a:xfrm>
          <a:prstGeom prst="rect">
            <a:avLst/>
          </a:prstGeom>
          <a:noFill/>
        </p:spPr>
        <p:txBody>
          <a:bodyPr wrap="square" rtlCol="0">
            <a:spAutoFit/>
          </a:bodyPr>
          <a:lstStyle/>
          <a:p>
            <a:pPr algn="ctr"/>
            <a:r>
              <a:rPr lang="en-IN" sz="2000" b="1" dirty="0">
                <a:latin typeface="Times New Roman" panose="02020603050405020304" pitchFamily="18" charset="0"/>
                <a:cs typeface="Times New Roman" panose="02020603050405020304" pitchFamily="18" charset="0"/>
              </a:rPr>
              <a:t>CSA0504 – Computer Vision</a:t>
            </a:r>
          </a:p>
        </p:txBody>
      </p:sp>
      <p:sp>
        <p:nvSpPr>
          <p:cNvPr id="4" name="TextBox 3">
            <a:extLst>
              <a:ext uri="{FF2B5EF4-FFF2-40B4-BE49-F238E27FC236}">
                <a16:creationId xmlns:a16="http://schemas.microsoft.com/office/drawing/2014/main" id="{A2A9A971-B1A2-F43A-F4D4-9D29FCE1BAD6}"/>
              </a:ext>
            </a:extLst>
          </p:cNvPr>
          <p:cNvSpPr txBox="1"/>
          <p:nvPr/>
        </p:nvSpPr>
        <p:spPr>
          <a:xfrm>
            <a:off x="1197766" y="4768644"/>
            <a:ext cx="3293807" cy="380705"/>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Presented By:</a:t>
            </a:r>
            <a:endParaRPr lang="en-AU" b="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invX="1"/>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15612" y="2113370"/>
            <a:ext cx="8284265" cy="3373030"/>
          </a:xfrm>
        </p:spPr>
        <p:txBody>
          <a:bodyPr>
            <a:noAutofit/>
          </a:bodyPr>
          <a:lstStyle/>
          <a:p>
            <a:pPr marL="0" indent="0" algn="just">
              <a:buNone/>
            </a:pPr>
            <a:r>
              <a:rPr lang="en-AU" sz="2000" b="1" dirty="0">
                <a:latin typeface="Times New Roman" panose="02020603050405020304" pitchFamily="18" charset="0"/>
                <a:cs typeface="Times New Roman" panose="02020603050405020304" pitchFamily="18" charset="0"/>
              </a:rPr>
              <a:t>Medical Imaging Errors</a:t>
            </a:r>
          </a:p>
          <a:p>
            <a:pPr algn="just">
              <a:buFont typeface="Wingdings" panose="05000000000000000000" pitchFamily="2" charset="2"/>
              <a:buChar char="Ø"/>
            </a:pPr>
            <a:r>
              <a:rPr lang="en-AU" sz="2000" dirty="0">
                <a:latin typeface="Times New Roman" panose="02020603050405020304" pitchFamily="18" charset="0"/>
                <a:cs typeface="Times New Roman" panose="02020603050405020304" pitchFamily="18" charset="0"/>
              </a:rPr>
              <a:t>Medical imaging helps doctors diagnose diseases using X-rays, CT scans, MRI, Ultrasound, and PET scans. </a:t>
            </a:r>
          </a:p>
          <a:p>
            <a:pPr algn="just">
              <a:buFont typeface="Wingdings" panose="05000000000000000000" pitchFamily="2" charset="2"/>
              <a:buChar char="Ø"/>
            </a:pPr>
            <a:r>
              <a:rPr lang="en-AU" sz="2000" dirty="0">
                <a:latin typeface="Times New Roman" panose="02020603050405020304" pitchFamily="18" charset="0"/>
                <a:cs typeface="Times New Roman" panose="02020603050405020304" pitchFamily="18" charset="0"/>
              </a:rPr>
              <a:t>Imaging errors occur when incorrectly identified, or misinterpreted. </a:t>
            </a:r>
          </a:p>
          <a:p>
            <a:pPr algn="just">
              <a:buFont typeface="Wingdings" panose="05000000000000000000" pitchFamily="2" charset="2"/>
              <a:buChar char="Ø"/>
            </a:pPr>
            <a:r>
              <a:rPr lang="en-AU" sz="2000" dirty="0">
                <a:latin typeface="Times New Roman" panose="02020603050405020304" pitchFamily="18" charset="0"/>
                <a:cs typeface="Times New Roman" panose="02020603050405020304" pitchFamily="18" charset="0"/>
              </a:rPr>
              <a:t>These errors can lead to delayed diagnosis, wrong treatment, or unnecessary procedures. </a:t>
            </a:r>
          </a:p>
          <a:p>
            <a:pPr algn="just">
              <a:buFont typeface="Wingdings" panose="05000000000000000000" pitchFamily="2" charset="2"/>
              <a:buChar char="Ø"/>
            </a:pPr>
            <a:r>
              <a:rPr lang="en-AU" sz="2000" dirty="0">
                <a:latin typeface="Times New Roman" panose="02020603050405020304" pitchFamily="18" charset="0"/>
                <a:cs typeface="Times New Roman" panose="02020603050405020304" pitchFamily="18" charset="0"/>
              </a:rPr>
              <a:t>Improving imaging accuracy is essential for patient safety and quality healthcare. </a:t>
            </a:r>
          </a:p>
          <a:p>
            <a:pPr algn="just">
              <a:lnSpc>
                <a:spcPct val="150000"/>
              </a:lnSpc>
              <a:buFont typeface="Wingdings" panose="05000000000000000000" pitchFamily="2" charset="2"/>
              <a:buChar char="§"/>
            </a:pPr>
            <a:endParaRPr lang="en-IN" sz="2000" dirty="0">
              <a:latin typeface="Times New Roman" panose="02020603050405020304" pitchFamily="18" charset="0"/>
              <a:cs typeface="Times New Roman" panose="02020603050405020304" pitchFamily="18" charset="0"/>
            </a:endParaRPr>
          </a:p>
        </p:txBody>
      </p:sp>
      <p:pic>
        <p:nvPicPr>
          <p:cNvPr id="4" name="object 4"/>
          <p:cNvPicPr/>
          <p:nvPr/>
        </p:nvPicPr>
        <p:blipFill>
          <a:blip r:embed="rId2" cstate="print"/>
          <a:stretch>
            <a:fillRect/>
          </a:stretch>
        </p:blipFill>
        <p:spPr>
          <a:xfrm>
            <a:off x="838199" y="309318"/>
            <a:ext cx="1177413" cy="1342897"/>
          </a:xfrm>
          <a:prstGeom prst="rect">
            <a:avLst/>
          </a:prstGeom>
        </p:spPr>
      </p:pic>
      <p:pic>
        <p:nvPicPr>
          <p:cNvPr id="5" name="object 5"/>
          <p:cNvPicPr/>
          <p:nvPr/>
        </p:nvPicPr>
        <p:blipFill>
          <a:blip r:embed="rId3" cstate="print"/>
          <a:stretch>
            <a:fillRect/>
          </a:stretch>
        </p:blipFill>
        <p:spPr>
          <a:xfrm>
            <a:off x="9976795" y="169881"/>
            <a:ext cx="1520062" cy="1342897"/>
          </a:xfrm>
          <a:prstGeom prst="rect">
            <a:avLst/>
          </a:prstGeom>
        </p:spPr>
      </p:pic>
      <p:sp>
        <p:nvSpPr>
          <p:cNvPr id="7" name="TextBox 6"/>
          <p:cNvSpPr txBox="1"/>
          <p:nvPr/>
        </p:nvSpPr>
        <p:spPr>
          <a:xfrm>
            <a:off x="2505456" y="496371"/>
            <a:ext cx="7002338" cy="1200329"/>
          </a:xfrm>
          <a:prstGeom prst="rect">
            <a:avLst/>
          </a:prstGeom>
          <a:noFill/>
        </p:spPr>
        <p:txBody>
          <a:bodyPr wrap="square">
            <a:spAutoFit/>
          </a:bodyPr>
          <a:lstStyle/>
          <a:p>
            <a:pPr marL="12700" algn="ctr">
              <a:lnSpc>
                <a:spcPct val="100000"/>
              </a:lnSpc>
              <a:spcBef>
                <a:spcPts val="105"/>
              </a:spcBef>
            </a:pPr>
            <a:r>
              <a:rPr lang="en-AU" sz="3600" b="1" dirty="0">
                <a:latin typeface="Times New Roman" panose="02020603050405020304" pitchFamily="18" charset="0"/>
                <a:cs typeface="Times New Roman" panose="02020603050405020304" pitchFamily="18" charset="0"/>
              </a:rPr>
              <a:t>Introduction to Medical Imaging Errors</a:t>
            </a:r>
            <a:endParaRPr lang="en-IN" sz="3600" b="1" spc="-1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09884" y="365125"/>
            <a:ext cx="3942735" cy="1325563"/>
          </a:xfrm>
        </p:spPr>
        <p:txBody>
          <a:bodyPr>
            <a:noAutofit/>
          </a:bodyPr>
          <a:lstStyle/>
          <a:p>
            <a:r>
              <a:rPr lang="en-AU" sz="3600" b="1" dirty="0">
                <a:latin typeface="Times New Roman" panose="02020603050405020304" pitchFamily="18" charset="0"/>
                <a:cs typeface="Times New Roman" panose="02020603050405020304" pitchFamily="18" charset="0"/>
              </a:rPr>
              <a:t>Case Study</a:t>
            </a:r>
            <a:endParaRPr lang="en-IN" sz="3600" b="1" dirty="0">
              <a:solidFill>
                <a:schemeClr val="tx1"/>
              </a:solidFill>
              <a:latin typeface="Times New Roman" panose="02020603050405020304" pitchFamily="18" charset="0"/>
              <a:cs typeface="Times New Roman" panose="02020603050405020304" pitchFamily="18" charset="0"/>
            </a:endParaRPr>
          </a:p>
        </p:txBody>
      </p:sp>
      <p:pic>
        <p:nvPicPr>
          <p:cNvPr id="4" name="object 4"/>
          <p:cNvPicPr/>
          <p:nvPr/>
        </p:nvPicPr>
        <p:blipFill>
          <a:blip r:embed="rId2" cstate="print"/>
          <a:stretch>
            <a:fillRect/>
          </a:stretch>
        </p:blipFill>
        <p:spPr>
          <a:xfrm>
            <a:off x="838200" y="230188"/>
            <a:ext cx="1103582" cy="1342897"/>
          </a:xfrm>
          <a:prstGeom prst="rect">
            <a:avLst/>
          </a:prstGeom>
        </p:spPr>
      </p:pic>
      <p:pic>
        <p:nvPicPr>
          <p:cNvPr id="5" name="object 5"/>
          <p:cNvPicPr/>
          <p:nvPr/>
        </p:nvPicPr>
        <p:blipFill>
          <a:blip r:embed="rId3" cstate="print"/>
          <a:stretch>
            <a:fillRect/>
          </a:stretch>
        </p:blipFill>
        <p:spPr>
          <a:xfrm>
            <a:off x="9976795" y="169881"/>
            <a:ext cx="1520062" cy="1342897"/>
          </a:xfrm>
          <a:prstGeom prst="rect">
            <a:avLst/>
          </a:prstGeom>
        </p:spPr>
      </p:pic>
      <p:sp>
        <p:nvSpPr>
          <p:cNvPr id="7" name="Rectangle 2">
            <a:extLst>
              <a:ext uri="{FF2B5EF4-FFF2-40B4-BE49-F238E27FC236}">
                <a16:creationId xmlns:a16="http://schemas.microsoft.com/office/drawing/2014/main" id="{223DAF12-F2A0-E2BB-176F-2EDEC53A6713}"/>
              </a:ext>
            </a:extLst>
          </p:cNvPr>
          <p:cNvSpPr>
            <a:spLocks noGrp="1" noChangeArrowheads="1"/>
          </p:cNvSpPr>
          <p:nvPr>
            <p:ph idx="1"/>
          </p:nvPr>
        </p:nvSpPr>
        <p:spPr bwMode="auto">
          <a:xfrm>
            <a:off x="1572769" y="1942508"/>
            <a:ext cx="9592055" cy="3977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AU" sz="2400" b="1" dirty="0">
                <a:latin typeface="Times New Roman" panose="02020603050405020304" pitchFamily="18" charset="0"/>
                <a:cs typeface="Times New Roman" panose="02020603050405020304" pitchFamily="18" charset="0"/>
              </a:rPr>
              <a:t>Missed Lung Cancer Diagnosis</a:t>
            </a:r>
          </a:p>
          <a:p>
            <a:pPr>
              <a:buFont typeface="Wingdings" panose="05000000000000000000" pitchFamily="2" charset="2"/>
              <a:buChar char="Ø"/>
            </a:pPr>
            <a:r>
              <a:rPr lang="en-AU" sz="2400" dirty="0">
                <a:latin typeface="Times New Roman" panose="02020603050405020304" pitchFamily="18" charset="0"/>
                <a:cs typeface="Times New Roman" panose="02020603050405020304" pitchFamily="18" charset="0"/>
              </a:rPr>
              <a:t>A 55-year-old patient visited the hospital with chest pain. </a:t>
            </a:r>
          </a:p>
          <a:p>
            <a:pPr>
              <a:buFont typeface="Wingdings" panose="05000000000000000000" pitchFamily="2" charset="2"/>
              <a:buChar char="Ø"/>
            </a:pPr>
            <a:r>
              <a:rPr lang="en-AU" sz="2400" dirty="0">
                <a:latin typeface="Times New Roman" panose="02020603050405020304" pitchFamily="18" charset="0"/>
                <a:cs typeface="Times New Roman" panose="02020603050405020304" pitchFamily="18" charset="0"/>
              </a:rPr>
              <a:t>A chest X-ray was performed. </a:t>
            </a:r>
          </a:p>
          <a:p>
            <a:pPr>
              <a:buFont typeface="Wingdings" panose="05000000000000000000" pitchFamily="2" charset="2"/>
              <a:buChar char="Ø"/>
            </a:pPr>
            <a:r>
              <a:rPr lang="en-AU" sz="2400" dirty="0">
                <a:latin typeface="Times New Roman" panose="02020603050405020304" pitchFamily="18" charset="0"/>
                <a:cs typeface="Times New Roman" panose="02020603050405020304" pitchFamily="18" charset="0"/>
              </a:rPr>
              <a:t>Due to poor image quality and radiologist workload, a small lung nodule was missed. </a:t>
            </a:r>
          </a:p>
          <a:p>
            <a:pPr>
              <a:buFont typeface="Wingdings" panose="05000000000000000000" pitchFamily="2" charset="2"/>
              <a:buChar char="Ø"/>
            </a:pPr>
            <a:r>
              <a:rPr lang="en-AU" sz="2400" dirty="0">
                <a:latin typeface="Times New Roman" panose="02020603050405020304" pitchFamily="18" charset="0"/>
                <a:cs typeface="Times New Roman" panose="02020603050405020304" pitchFamily="18" charset="0"/>
              </a:rPr>
              <a:t>Six months later, the patient returned with severe symptoms. </a:t>
            </a:r>
          </a:p>
          <a:p>
            <a:pPr>
              <a:buFont typeface="Wingdings" panose="05000000000000000000" pitchFamily="2" charset="2"/>
              <a:buChar char="Ø"/>
            </a:pPr>
            <a:r>
              <a:rPr lang="en-AU" sz="2400" dirty="0">
                <a:latin typeface="Times New Roman" panose="02020603050405020304" pitchFamily="18" charset="0"/>
                <a:cs typeface="Times New Roman" panose="02020603050405020304" pitchFamily="18" charset="0"/>
              </a:rPr>
              <a:t>A CT scan confirmed advanced-stage lung cancer. </a:t>
            </a:r>
          </a:p>
          <a:p>
            <a:pPr>
              <a:buFont typeface="Wingdings" panose="05000000000000000000" pitchFamily="2" charset="2"/>
              <a:buChar char="Ø"/>
            </a:pPr>
            <a:r>
              <a:rPr lang="en-AU" sz="2400" dirty="0">
                <a:latin typeface="Times New Roman" panose="02020603050405020304" pitchFamily="18" charset="0"/>
                <a:cs typeface="Times New Roman" panose="02020603050405020304" pitchFamily="18" charset="0"/>
              </a:rPr>
              <a:t>Earlier detection could have improved treatment success and survival.</a:t>
            </a:r>
          </a:p>
          <a:p>
            <a:pPr marL="0" marR="0" lvl="0" indent="0" algn="l" defTabSz="914400" rtl="0" eaLnBrk="0" fontAlgn="base" latinLnBrk="0" hangingPunct="0">
              <a:lnSpc>
                <a:spcPct val="15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73DE5-9FA5-E35F-8004-25484CEA53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CDADB5-A87D-37C0-44BA-9D4D3EC77F9A}"/>
              </a:ext>
            </a:extLst>
          </p:cNvPr>
          <p:cNvSpPr>
            <a:spLocks noGrp="1"/>
          </p:cNvSpPr>
          <p:nvPr>
            <p:ph type="title"/>
          </p:nvPr>
        </p:nvSpPr>
        <p:spPr>
          <a:xfrm>
            <a:off x="3510114" y="358386"/>
            <a:ext cx="6076337" cy="1325563"/>
          </a:xfrm>
        </p:spPr>
        <p:txBody>
          <a:bodyPr/>
          <a:lstStyle/>
          <a:p>
            <a:r>
              <a:rPr lang="en-IN" sz="3600" b="1" dirty="0">
                <a:latin typeface="Times New Roman" panose="02020603050405020304" pitchFamily="18" charset="0"/>
                <a:cs typeface="Times New Roman" panose="02020603050405020304" pitchFamily="18" charset="0"/>
              </a:rPr>
              <a:t>System Architecture</a:t>
            </a:r>
          </a:p>
        </p:txBody>
      </p:sp>
      <p:pic>
        <p:nvPicPr>
          <p:cNvPr id="4" name="Picture 3">
            <a:extLst>
              <a:ext uri="{FF2B5EF4-FFF2-40B4-BE49-F238E27FC236}">
                <a16:creationId xmlns:a16="http://schemas.microsoft.com/office/drawing/2014/main" id="{416A855B-107B-EA45-A04D-CE19B37D4A63}"/>
              </a:ext>
            </a:extLst>
          </p:cNvPr>
          <p:cNvPicPr>
            <a:picLocks noChangeAspect="1"/>
          </p:cNvPicPr>
          <p:nvPr/>
        </p:nvPicPr>
        <p:blipFill>
          <a:blip r:embed="rId2"/>
          <a:stretch>
            <a:fillRect/>
          </a:stretch>
        </p:blipFill>
        <p:spPr>
          <a:xfrm>
            <a:off x="973782" y="201038"/>
            <a:ext cx="1103472" cy="1341236"/>
          </a:xfrm>
          <a:prstGeom prst="rect">
            <a:avLst/>
          </a:prstGeom>
        </p:spPr>
      </p:pic>
      <p:pic>
        <p:nvPicPr>
          <p:cNvPr id="6" name="Picture 5">
            <a:extLst>
              <a:ext uri="{FF2B5EF4-FFF2-40B4-BE49-F238E27FC236}">
                <a16:creationId xmlns:a16="http://schemas.microsoft.com/office/drawing/2014/main" id="{E271D643-D0EB-FA4E-4ADD-F9726C3DBDA8}"/>
              </a:ext>
            </a:extLst>
          </p:cNvPr>
          <p:cNvPicPr>
            <a:picLocks noChangeAspect="1"/>
          </p:cNvPicPr>
          <p:nvPr/>
        </p:nvPicPr>
        <p:blipFill>
          <a:blip r:embed="rId3"/>
          <a:stretch>
            <a:fillRect/>
          </a:stretch>
        </p:blipFill>
        <p:spPr>
          <a:xfrm>
            <a:off x="10043585" y="201038"/>
            <a:ext cx="1524132" cy="1341236"/>
          </a:xfrm>
          <a:prstGeom prst="rect">
            <a:avLst/>
          </a:prstGeom>
        </p:spPr>
      </p:pic>
      <p:pic>
        <p:nvPicPr>
          <p:cNvPr id="5" name="Picture 4">
            <a:extLst>
              <a:ext uri="{FF2B5EF4-FFF2-40B4-BE49-F238E27FC236}">
                <a16:creationId xmlns:a16="http://schemas.microsoft.com/office/drawing/2014/main" id="{607B062B-862B-96B5-73C5-812690A1FA12}"/>
              </a:ext>
            </a:extLst>
          </p:cNvPr>
          <p:cNvPicPr>
            <a:picLocks noChangeAspect="1"/>
          </p:cNvPicPr>
          <p:nvPr/>
        </p:nvPicPr>
        <p:blipFill>
          <a:blip r:embed="rId4">
            <a:extLst>
              <a:ext uri="{28A0092B-C50C-407E-A947-70E740481C1C}">
                <a14:useLocalDpi xmlns:a14="http://schemas.microsoft.com/office/drawing/2010/main" val="0"/>
              </a:ext>
            </a:extLst>
          </a:blip>
          <a:srcRect t="7142"/>
          <a:stretch>
            <a:fillRect/>
          </a:stretch>
        </p:blipFill>
        <p:spPr>
          <a:xfrm>
            <a:off x="1181100" y="1683949"/>
            <a:ext cx="10287000" cy="4617850"/>
          </a:xfrm>
          <a:prstGeom prst="rect">
            <a:avLst/>
          </a:prstGeom>
        </p:spPr>
      </p:pic>
    </p:spTree>
    <p:extLst>
      <p:ext uri="{BB962C8B-B14F-4D97-AF65-F5344CB8AC3E}">
        <p14:creationId xmlns:p14="http://schemas.microsoft.com/office/powerpoint/2010/main" val="30921697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629653" y="171542"/>
            <a:ext cx="1103472" cy="1341236"/>
          </a:xfrm>
          <a:prstGeom prst="rect">
            <a:avLst/>
          </a:prstGeom>
        </p:spPr>
      </p:pic>
      <p:sp>
        <p:nvSpPr>
          <p:cNvPr id="2" name="Title 1"/>
          <p:cNvSpPr>
            <a:spLocks noGrp="1"/>
          </p:cNvSpPr>
          <p:nvPr>
            <p:ph type="title"/>
          </p:nvPr>
        </p:nvSpPr>
        <p:spPr>
          <a:xfrm>
            <a:off x="2929494" y="369112"/>
            <a:ext cx="6607796" cy="1325563"/>
          </a:xfrm>
        </p:spPr>
        <p:txBody>
          <a:bodyPr>
            <a:normAutofit fontScale="90000"/>
          </a:bodyPr>
          <a:lstStyle/>
          <a:p>
            <a:r>
              <a:rPr lang="en-AU" sz="3600" b="1" dirty="0">
                <a:latin typeface="Times New Roman" panose="02020603050405020304" pitchFamily="18" charset="0"/>
                <a:cs typeface="Times New Roman" panose="02020603050405020304" pitchFamily="18" charset="0"/>
              </a:rPr>
              <a:t>Causes of Medical Imaging Errors</a:t>
            </a:r>
            <a:br>
              <a:rPr lang="en-AU" sz="3600" b="1" dirty="0">
                <a:latin typeface="Times New Roman" panose="02020603050405020304" pitchFamily="18" charset="0"/>
                <a:cs typeface="Times New Roman" panose="02020603050405020304" pitchFamily="18" charset="0"/>
              </a:rPr>
            </a:br>
            <a:endParaRPr lang="en-IN" sz="3600" b="1" dirty="0">
              <a:solidFill>
                <a:schemeClr val="tx1"/>
              </a:solidFill>
              <a:latin typeface="Times New Roman" panose="02020603050405020304" pitchFamily="18" charset="0"/>
              <a:cs typeface="Times New Roman" panose="02020603050405020304" pitchFamily="18" charset="0"/>
            </a:endParaRPr>
          </a:p>
        </p:txBody>
      </p:sp>
      <p:pic>
        <p:nvPicPr>
          <p:cNvPr id="6" name="object 5"/>
          <p:cNvPicPr/>
          <p:nvPr/>
        </p:nvPicPr>
        <p:blipFill>
          <a:blip r:embed="rId3" cstate="print"/>
          <a:stretch>
            <a:fillRect/>
          </a:stretch>
        </p:blipFill>
        <p:spPr>
          <a:xfrm>
            <a:off x="9976795" y="169881"/>
            <a:ext cx="1520062" cy="1342897"/>
          </a:xfrm>
          <a:prstGeom prst="rect">
            <a:avLst/>
          </a:prstGeom>
        </p:spPr>
      </p:pic>
      <p:sp>
        <p:nvSpPr>
          <p:cNvPr id="7" name="TextBox 6"/>
          <p:cNvSpPr txBox="1"/>
          <p:nvPr/>
        </p:nvSpPr>
        <p:spPr>
          <a:xfrm>
            <a:off x="554587" y="1931436"/>
            <a:ext cx="11503449" cy="3903954"/>
          </a:xfrm>
          <a:prstGeom prst="rect">
            <a:avLst/>
          </a:prstGeom>
          <a:noFill/>
        </p:spPr>
        <p:txBody>
          <a:bodyPr wrap="square" rtlCol="0">
            <a:spAutoFit/>
          </a:bodyPr>
          <a:lstStyle/>
          <a:p>
            <a:pPr algn="just">
              <a:lnSpc>
                <a:spcPct val="150000"/>
              </a:lnSpc>
            </a:pPr>
            <a:r>
              <a:rPr lang="en-AU" sz="2400" b="1" dirty="0">
                <a:latin typeface="Times New Roman" panose="02020603050405020304" pitchFamily="18" charset="0"/>
                <a:cs typeface="Times New Roman" panose="02020603050405020304" pitchFamily="18" charset="0"/>
              </a:rPr>
              <a:t>Major Causes</a:t>
            </a:r>
          </a:p>
          <a:p>
            <a:pPr marL="342900" indent="-342900" algn="just">
              <a:lnSpc>
                <a:spcPct val="150000"/>
              </a:lnSpc>
              <a:buFont typeface="Wingdings" panose="05000000000000000000" pitchFamily="2" charset="2"/>
              <a:buChar char="Ø"/>
            </a:pPr>
            <a:r>
              <a:rPr lang="en-AU" sz="2400" b="1" dirty="0">
                <a:latin typeface="Times New Roman" panose="02020603050405020304" pitchFamily="18" charset="0"/>
                <a:cs typeface="Times New Roman" panose="02020603050405020304" pitchFamily="18" charset="0"/>
              </a:rPr>
              <a:t>Poor Image Quality:</a:t>
            </a:r>
            <a:r>
              <a:rPr lang="en-AU" sz="2400" dirty="0">
                <a:latin typeface="Times New Roman" panose="02020603050405020304" pitchFamily="18" charset="0"/>
                <a:cs typeface="Times New Roman" panose="02020603050405020304" pitchFamily="18" charset="0"/>
              </a:rPr>
              <a:t> Low resolution, improper patient positioning, or equipment issues. </a:t>
            </a:r>
          </a:p>
          <a:p>
            <a:pPr marL="342900" indent="-342900" algn="just">
              <a:lnSpc>
                <a:spcPct val="150000"/>
              </a:lnSpc>
              <a:buFont typeface="Wingdings" panose="05000000000000000000" pitchFamily="2" charset="2"/>
              <a:buChar char="Ø"/>
            </a:pPr>
            <a:r>
              <a:rPr lang="en-AU" sz="2400" b="1" dirty="0">
                <a:latin typeface="Times New Roman" panose="02020603050405020304" pitchFamily="18" charset="0"/>
                <a:cs typeface="Times New Roman" panose="02020603050405020304" pitchFamily="18" charset="0"/>
              </a:rPr>
              <a:t>Human Error:</a:t>
            </a:r>
            <a:r>
              <a:rPr lang="en-AU" sz="2400" dirty="0">
                <a:latin typeface="Times New Roman" panose="02020603050405020304" pitchFamily="18" charset="0"/>
                <a:cs typeface="Times New Roman" panose="02020603050405020304" pitchFamily="18" charset="0"/>
              </a:rPr>
              <a:t> Fatigue, inexperience, distraction, or heavy workload. </a:t>
            </a:r>
          </a:p>
          <a:p>
            <a:pPr marL="342900" indent="-342900" algn="just">
              <a:lnSpc>
                <a:spcPct val="150000"/>
              </a:lnSpc>
              <a:buFont typeface="Wingdings" panose="05000000000000000000" pitchFamily="2" charset="2"/>
              <a:buChar char="Ø"/>
            </a:pPr>
            <a:r>
              <a:rPr lang="en-AU" sz="2400" b="1" dirty="0">
                <a:latin typeface="Times New Roman" panose="02020603050405020304" pitchFamily="18" charset="0"/>
                <a:cs typeface="Times New Roman" panose="02020603050405020304" pitchFamily="18" charset="0"/>
              </a:rPr>
              <a:t>Communication Gaps:</a:t>
            </a:r>
            <a:r>
              <a:rPr lang="en-AU" sz="2400" dirty="0">
                <a:latin typeface="Times New Roman" panose="02020603050405020304" pitchFamily="18" charset="0"/>
                <a:cs typeface="Times New Roman" panose="02020603050405020304" pitchFamily="18" charset="0"/>
              </a:rPr>
              <a:t> Incomplete patient history and poor coordination between doctors and radiologists. </a:t>
            </a:r>
          </a:p>
          <a:p>
            <a:pPr marL="342900" indent="-342900" algn="just">
              <a:lnSpc>
                <a:spcPct val="150000"/>
              </a:lnSpc>
              <a:buFont typeface="Wingdings" panose="05000000000000000000" pitchFamily="2" charset="2"/>
              <a:buChar char="Ø"/>
            </a:pPr>
            <a:r>
              <a:rPr lang="en-AU" sz="2400" b="1" dirty="0">
                <a:latin typeface="Times New Roman" panose="02020603050405020304" pitchFamily="18" charset="0"/>
                <a:cs typeface="Times New Roman" panose="02020603050405020304" pitchFamily="18" charset="0"/>
              </a:rPr>
              <a:t>Technical Problems:</a:t>
            </a:r>
            <a:r>
              <a:rPr lang="en-AU" sz="2400" dirty="0">
                <a:latin typeface="Times New Roman" panose="02020603050405020304" pitchFamily="18" charset="0"/>
                <a:cs typeface="Times New Roman" panose="02020603050405020304" pitchFamily="18" charset="0"/>
              </a:rPr>
              <a:t> Outdated imaging equipment and improper calibration. </a:t>
            </a:r>
          </a:p>
          <a:p>
            <a:pPr marL="342900" indent="-342900" algn="just">
              <a:lnSpc>
                <a:spcPct val="150000"/>
              </a:lnSpc>
              <a:buFont typeface="Wingdings" panose="05000000000000000000" pitchFamily="2" charset="2"/>
              <a:buChar char="Ø"/>
            </a:pPr>
            <a:r>
              <a:rPr lang="en-AU" sz="2400" b="1" dirty="0">
                <a:latin typeface="Times New Roman" panose="02020603050405020304" pitchFamily="18" charset="0"/>
                <a:cs typeface="Times New Roman" panose="02020603050405020304" pitchFamily="18" charset="0"/>
              </a:rPr>
              <a:t>Single Image Review:</a:t>
            </a:r>
            <a:r>
              <a:rPr lang="en-AU" sz="2400" dirty="0">
                <a:latin typeface="Times New Roman" panose="02020603050405020304" pitchFamily="18" charset="0"/>
                <a:cs typeface="Times New Roman" panose="02020603050405020304" pitchFamily="18" charset="0"/>
              </a:rPr>
              <a:t> Lack of a second opinion increases the risk of missed findings.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81514" y="351012"/>
            <a:ext cx="6076337" cy="1325563"/>
          </a:xfrm>
        </p:spPr>
        <p:txBody>
          <a:bodyPr/>
          <a:lstStyle/>
          <a:p>
            <a:r>
              <a:rPr lang="en-AU" sz="3600" b="1" dirty="0">
                <a:latin typeface="Times New Roman" panose="02020603050405020304" pitchFamily="18" charset="0"/>
                <a:cs typeface="Times New Roman" panose="02020603050405020304" pitchFamily="18" charset="0"/>
              </a:rPr>
              <a:t>Improvements and Solutions</a:t>
            </a:r>
            <a:endParaRPr lang="en-IN" sz="36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973782" y="201038"/>
            <a:ext cx="1103472" cy="1341236"/>
          </a:xfrm>
          <a:prstGeom prst="rect">
            <a:avLst/>
          </a:prstGeom>
        </p:spPr>
      </p:pic>
      <p:pic>
        <p:nvPicPr>
          <p:cNvPr id="6" name="Picture 5"/>
          <p:cNvPicPr>
            <a:picLocks noChangeAspect="1"/>
          </p:cNvPicPr>
          <p:nvPr/>
        </p:nvPicPr>
        <p:blipFill>
          <a:blip r:embed="rId3"/>
          <a:stretch>
            <a:fillRect/>
          </a:stretch>
        </p:blipFill>
        <p:spPr>
          <a:xfrm>
            <a:off x="10043585" y="201038"/>
            <a:ext cx="1524132" cy="1341236"/>
          </a:xfrm>
          <a:prstGeom prst="rect">
            <a:avLst/>
          </a:prstGeom>
        </p:spPr>
      </p:pic>
      <p:sp>
        <p:nvSpPr>
          <p:cNvPr id="3" name="TextBox 2">
            <a:extLst>
              <a:ext uri="{FF2B5EF4-FFF2-40B4-BE49-F238E27FC236}">
                <a16:creationId xmlns:a16="http://schemas.microsoft.com/office/drawing/2014/main" id="{487D4709-9F73-E388-8A3F-21E1C3A3263E}"/>
              </a:ext>
            </a:extLst>
          </p:cNvPr>
          <p:cNvSpPr txBox="1"/>
          <p:nvPr/>
        </p:nvSpPr>
        <p:spPr>
          <a:xfrm>
            <a:off x="1444752" y="2130552"/>
            <a:ext cx="9912096" cy="4457952"/>
          </a:xfrm>
          <a:prstGeom prst="rect">
            <a:avLst/>
          </a:prstGeom>
          <a:noFill/>
        </p:spPr>
        <p:txBody>
          <a:bodyPr wrap="square" rtlCol="0">
            <a:spAutoFit/>
          </a:bodyPr>
          <a:lstStyle/>
          <a:p>
            <a:pPr algn="just">
              <a:lnSpc>
                <a:spcPct val="150000"/>
              </a:lnSpc>
            </a:pPr>
            <a:r>
              <a:rPr lang="en-AU" sz="2400" b="1" dirty="0">
                <a:latin typeface="Times New Roman" panose="02020603050405020304" pitchFamily="18" charset="0"/>
                <a:cs typeface="Times New Roman" panose="02020603050405020304" pitchFamily="18" charset="0"/>
              </a:rPr>
              <a:t>Reducing Imaging Errors</a:t>
            </a:r>
          </a:p>
          <a:p>
            <a:pPr marL="342900" indent="-342900" algn="just">
              <a:lnSpc>
                <a:spcPct val="150000"/>
              </a:lnSpc>
              <a:buFont typeface="Wingdings" panose="05000000000000000000" pitchFamily="2" charset="2"/>
              <a:buChar char="Ø"/>
            </a:pPr>
            <a:r>
              <a:rPr lang="en-AU" sz="2400" dirty="0">
                <a:latin typeface="Times New Roman" panose="02020603050405020304" pitchFamily="18" charset="0"/>
                <a:cs typeface="Times New Roman" panose="02020603050405020304" pitchFamily="18" charset="0"/>
              </a:rPr>
              <a:t>Use </a:t>
            </a:r>
            <a:r>
              <a:rPr lang="en-AU" sz="2400" b="1" dirty="0">
                <a:latin typeface="Times New Roman" panose="02020603050405020304" pitchFamily="18" charset="0"/>
                <a:cs typeface="Times New Roman" panose="02020603050405020304" pitchFamily="18" charset="0"/>
              </a:rPr>
              <a:t>Artificial Intelligence (AI)</a:t>
            </a:r>
            <a:r>
              <a:rPr lang="en-AU" sz="2400" dirty="0">
                <a:latin typeface="Times New Roman" panose="02020603050405020304" pitchFamily="18" charset="0"/>
                <a:cs typeface="Times New Roman" panose="02020603050405020304" pitchFamily="18" charset="0"/>
              </a:rPr>
              <a:t> to assist in detecting abnormalities. </a:t>
            </a:r>
          </a:p>
          <a:p>
            <a:pPr marL="342900" indent="-342900" algn="just">
              <a:lnSpc>
                <a:spcPct val="150000"/>
              </a:lnSpc>
              <a:buFont typeface="Wingdings" panose="05000000000000000000" pitchFamily="2" charset="2"/>
              <a:buChar char="Ø"/>
            </a:pPr>
            <a:r>
              <a:rPr lang="en-AU" sz="2400" dirty="0">
                <a:latin typeface="Times New Roman" panose="02020603050405020304" pitchFamily="18" charset="0"/>
                <a:cs typeface="Times New Roman" panose="02020603050405020304" pitchFamily="18" charset="0"/>
              </a:rPr>
              <a:t>Upgrade to </a:t>
            </a:r>
            <a:r>
              <a:rPr lang="en-AU" sz="2400" b="1" dirty="0">
                <a:latin typeface="Times New Roman" panose="02020603050405020304" pitchFamily="18" charset="0"/>
                <a:cs typeface="Times New Roman" panose="02020603050405020304" pitchFamily="18" charset="0"/>
              </a:rPr>
              <a:t>high-resolution imaging equipment</a:t>
            </a:r>
            <a:r>
              <a:rPr lang="en-AU" sz="2400" dirty="0">
                <a:latin typeface="Times New Roman" panose="02020603050405020304" pitchFamily="18" charset="0"/>
                <a:cs typeface="Times New Roman" panose="02020603050405020304" pitchFamily="18" charset="0"/>
              </a:rPr>
              <a:t>. </a:t>
            </a:r>
          </a:p>
          <a:p>
            <a:pPr marL="342900" indent="-342900" algn="just">
              <a:lnSpc>
                <a:spcPct val="150000"/>
              </a:lnSpc>
              <a:buFont typeface="Wingdings" panose="05000000000000000000" pitchFamily="2" charset="2"/>
              <a:buChar char="Ø"/>
            </a:pPr>
            <a:r>
              <a:rPr lang="en-AU" sz="2400" dirty="0">
                <a:latin typeface="Times New Roman" panose="02020603050405020304" pitchFamily="18" charset="0"/>
                <a:cs typeface="Times New Roman" panose="02020603050405020304" pitchFamily="18" charset="0"/>
              </a:rPr>
              <a:t>Implement </a:t>
            </a:r>
            <a:r>
              <a:rPr lang="en-AU" sz="2400" b="1" dirty="0">
                <a:latin typeface="Times New Roman" panose="02020603050405020304" pitchFamily="18" charset="0"/>
                <a:cs typeface="Times New Roman" panose="02020603050405020304" pitchFamily="18" charset="0"/>
              </a:rPr>
              <a:t>double reading</a:t>
            </a:r>
            <a:r>
              <a:rPr lang="en-AU" sz="2400" dirty="0">
                <a:latin typeface="Times New Roman" panose="02020603050405020304" pitchFamily="18" charset="0"/>
                <a:cs typeface="Times New Roman" panose="02020603050405020304" pitchFamily="18" charset="0"/>
              </a:rPr>
              <a:t>, where two radiologists review important scans. </a:t>
            </a:r>
          </a:p>
          <a:p>
            <a:pPr marL="342900" indent="-342900" algn="just">
              <a:lnSpc>
                <a:spcPct val="150000"/>
              </a:lnSpc>
              <a:buFont typeface="Wingdings" panose="05000000000000000000" pitchFamily="2" charset="2"/>
              <a:buChar char="Ø"/>
            </a:pPr>
            <a:r>
              <a:rPr lang="en-AU" sz="2400" dirty="0">
                <a:latin typeface="Times New Roman" panose="02020603050405020304" pitchFamily="18" charset="0"/>
                <a:cs typeface="Times New Roman" panose="02020603050405020304" pitchFamily="18" charset="0"/>
              </a:rPr>
              <a:t>Provide </a:t>
            </a:r>
            <a:r>
              <a:rPr lang="en-AU" sz="2400" b="1" dirty="0">
                <a:latin typeface="Times New Roman" panose="02020603050405020304" pitchFamily="18" charset="0"/>
                <a:cs typeface="Times New Roman" panose="02020603050405020304" pitchFamily="18" charset="0"/>
              </a:rPr>
              <a:t>regular training</a:t>
            </a:r>
            <a:r>
              <a:rPr lang="en-AU" sz="2400" dirty="0">
                <a:latin typeface="Times New Roman" panose="02020603050405020304" pitchFamily="18" charset="0"/>
                <a:cs typeface="Times New Roman" panose="02020603050405020304" pitchFamily="18" charset="0"/>
              </a:rPr>
              <a:t> for radiologists and technicians. </a:t>
            </a:r>
          </a:p>
          <a:p>
            <a:pPr marL="342900" indent="-342900" algn="just">
              <a:lnSpc>
                <a:spcPct val="150000"/>
              </a:lnSpc>
              <a:buFont typeface="Wingdings" panose="05000000000000000000" pitchFamily="2" charset="2"/>
              <a:buChar char="Ø"/>
            </a:pPr>
            <a:r>
              <a:rPr lang="en-AU" sz="2400" dirty="0">
                <a:latin typeface="Times New Roman" panose="02020603050405020304" pitchFamily="18" charset="0"/>
                <a:cs typeface="Times New Roman" panose="02020603050405020304" pitchFamily="18" charset="0"/>
              </a:rPr>
              <a:t>Improve communication between healthcare professionals. </a:t>
            </a:r>
          </a:p>
          <a:p>
            <a:pPr marL="342900" indent="-342900" algn="just">
              <a:lnSpc>
                <a:spcPct val="150000"/>
              </a:lnSpc>
              <a:buFont typeface="Wingdings" panose="05000000000000000000" pitchFamily="2" charset="2"/>
              <a:buChar char="Ø"/>
            </a:pPr>
            <a:r>
              <a:rPr lang="en-AU" sz="2400" dirty="0">
                <a:latin typeface="Times New Roman" panose="02020603050405020304" pitchFamily="18" charset="0"/>
                <a:cs typeface="Times New Roman" panose="02020603050405020304" pitchFamily="18" charset="0"/>
              </a:rPr>
              <a:t>Conduct </a:t>
            </a:r>
            <a:r>
              <a:rPr lang="en-AU" sz="2400" b="1" dirty="0">
                <a:latin typeface="Times New Roman" panose="02020603050405020304" pitchFamily="18" charset="0"/>
                <a:cs typeface="Times New Roman" panose="02020603050405020304" pitchFamily="18" charset="0"/>
              </a:rPr>
              <a:t>quality assurance programs</a:t>
            </a:r>
            <a:r>
              <a:rPr lang="en-AU" sz="2400" dirty="0">
                <a:latin typeface="Times New Roman" panose="02020603050405020304" pitchFamily="18" charset="0"/>
                <a:cs typeface="Times New Roman" panose="02020603050405020304" pitchFamily="18" charset="0"/>
              </a:rPr>
              <a:t> and routine equipment maintenance.</a:t>
            </a:r>
          </a:p>
          <a:p>
            <a:pPr algn="just">
              <a:lnSpc>
                <a:spcPct val="150000"/>
              </a:lnSpc>
            </a:pPr>
            <a:endParaRPr lang="en-AU"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777138" y="171542"/>
            <a:ext cx="1103472" cy="1341236"/>
          </a:xfrm>
          <a:prstGeom prst="rect">
            <a:avLst/>
          </a:prstGeom>
        </p:spPr>
      </p:pic>
      <p:pic>
        <p:nvPicPr>
          <p:cNvPr id="6" name="object 5"/>
          <p:cNvPicPr/>
          <p:nvPr/>
        </p:nvPicPr>
        <p:blipFill>
          <a:blip r:embed="rId3" cstate="print"/>
          <a:stretch>
            <a:fillRect/>
          </a:stretch>
        </p:blipFill>
        <p:spPr>
          <a:xfrm>
            <a:off x="9894800" y="169881"/>
            <a:ext cx="1520062" cy="1342897"/>
          </a:xfrm>
          <a:prstGeom prst="rect">
            <a:avLst/>
          </a:prstGeom>
        </p:spPr>
      </p:pic>
      <p:sp>
        <p:nvSpPr>
          <p:cNvPr id="7" name="TextBox 6"/>
          <p:cNvSpPr txBox="1"/>
          <p:nvPr/>
        </p:nvSpPr>
        <p:spPr>
          <a:xfrm>
            <a:off x="3382601" y="432522"/>
            <a:ext cx="5771535" cy="646331"/>
          </a:xfrm>
          <a:prstGeom prst="rect">
            <a:avLst/>
          </a:prstGeom>
          <a:noFill/>
        </p:spPr>
        <p:txBody>
          <a:bodyPr wrap="square" rtlCol="0">
            <a:spAutoFit/>
          </a:bodyPr>
          <a:lstStyle/>
          <a:p>
            <a:pPr algn="just"/>
            <a:r>
              <a:rPr lang="en-AU" sz="3600" b="1" dirty="0">
                <a:latin typeface="Times New Roman" panose="02020603050405020304" pitchFamily="18" charset="0"/>
                <a:cs typeface="Times New Roman" panose="02020603050405020304" pitchFamily="18" charset="0"/>
              </a:rPr>
              <a:t>Benefits and Conclusion</a:t>
            </a:r>
          </a:p>
        </p:txBody>
      </p:sp>
      <p:sp>
        <p:nvSpPr>
          <p:cNvPr id="10" name="TextBox 9"/>
          <p:cNvSpPr txBox="1"/>
          <p:nvPr/>
        </p:nvSpPr>
        <p:spPr>
          <a:xfrm>
            <a:off x="777138" y="1931940"/>
            <a:ext cx="10470076" cy="4493538"/>
          </a:xfrm>
          <a:prstGeom prst="rect">
            <a:avLst/>
          </a:prstGeom>
          <a:noFill/>
        </p:spPr>
        <p:txBody>
          <a:bodyPr wrap="square" rtlCol="0">
            <a:spAutoFit/>
          </a:bodyPr>
          <a:lstStyle/>
          <a:p>
            <a:r>
              <a:rPr lang="en-AU" sz="2400" b="1" dirty="0">
                <a:latin typeface="Times New Roman" panose="02020603050405020304" pitchFamily="18" charset="0"/>
                <a:cs typeface="Times New Roman" panose="02020603050405020304" pitchFamily="18" charset="0"/>
              </a:rPr>
              <a:t>Benefits of Improvements</a:t>
            </a:r>
          </a:p>
          <a:p>
            <a:pPr marL="342900" indent="-342900">
              <a:buFont typeface="Wingdings" panose="05000000000000000000" pitchFamily="2" charset="2"/>
              <a:buChar char="Ø"/>
            </a:pPr>
            <a:r>
              <a:rPr lang="en-AU" sz="2400" dirty="0">
                <a:latin typeface="Times New Roman" panose="02020603050405020304" pitchFamily="18" charset="0"/>
                <a:cs typeface="Times New Roman" panose="02020603050405020304" pitchFamily="18" charset="0"/>
              </a:rPr>
              <a:t>Early and accurate disease detection. </a:t>
            </a:r>
          </a:p>
          <a:p>
            <a:pPr marL="342900" indent="-342900">
              <a:buFont typeface="Wingdings" panose="05000000000000000000" pitchFamily="2" charset="2"/>
              <a:buChar char="Ø"/>
            </a:pPr>
            <a:r>
              <a:rPr lang="en-AU" sz="2400" dirty="0">
                <a:latin typeface="Times New Roman" panose="02020603050405020304" pitchFamily="18" charset="0"/>
                <a:cs typeface="Times New Roman" panose="02020603050405020304" pitchFamily="18" charset="0"/>
              </a:rPr>
              <a:t>Reduced diagnostic errors and misinterpretations. </a:t>
            </a:r>
          </a:p>
          <a:p>
            <a:pPr marL="342900" indent="-342900">
              <a:buFont typeface="Wingdings" panose="05000000000000000000" pitchFamily="2" charset="2"/>
              <a:buChar char="Ø"/>
            </a:pPr>
            <a:r>
              <a:rPr lang="en-AU" sz="2400" dirty="0">
                <a:latin typeface="Times New Roman" panose="02020603050405020304" pitchFamily="18" charset="0"/>
                <a:cs typeface="Times New Roman" panose="02020603050405020304" pitchFamily="18" charset="0"/>
              </a:rPr>
              <a:t>Faster treatment and better patient outcomes. </a:t>
            </a:r>
          </a:p>
          <a:p>
            <a:pPr marL="342900" indent="-342900">
              <a:buFont typeface="Wingdings" panose="05000000000000000000" pitchFamily="2" charset="2"/>
              <a:buChar char="Ø"/>
            </a:pPr>
            <a:r>
              <a:rPr lang="en-AU" sz="2400" dirty="0">
                <a:latin typeface="Times New Roman" panose="02020603050405020304" pitchFamily="18" charset="0"/>
                <a:cs typeface="Times New Roman" panose="02020603050405020304" pitchFamily="18" charset="0"/>
              </a:rPr>
              <a:t>Increased patient safety and confidence. </a:t>
            </a:r>
          </a:p>
          <a:p>
            <a:pPr marL="342900" indent="-342900">
              <a:buFont typeface="Wingdings" panose="05000000000000000000" pitchFamily="2" charset="2"/>
              <a:buChar char="Ø"/>
            </a:pPr>
            <a:r>
              <a:rPr lang="en-AU" sz="2400" dirty="0">
                <a:latin typeface="Times New Roman" panose="02020603050405020304" pitchFamily="18" charset="0"/>
                <a:cs typeface="Times New Roman" panose="02020603050405020304" pitchFamily="18" charset="0"/>
              </a:rPr>
              <a:t>Lower healthcare costs by avoiding unnecessary procedures. </a:t>
            </a:r>
          </a:p>
          <a:p>
            <a:r>
              <a:rPr lang="en-AU" sz="2400" b="1" dirty="0">
                <a:latin typeface="Times New Roman" panose="02020603050405020304" pitchFamily="18" charset="0"/>
                <a:cs typeface="Times New Roman" panose="02020603050405020304" pitchFamily="18" charset="0"/>
              </a:rPr>
              <a:t>Conclusion</a:t>
            </a:r>
          </a:p>
          <a:p>
            <a:pPr marL="342900" indent="-342900">
              <a:buFont typeface="Wingdings" panose="05000000000000000000" pitchFamily="2" charset="2"/>
              <a:buChar char="Ø"/>
            </a:pPr>
            <a:r>
              <a:rPr lang="en-AU" sz="2400" dirty="0">
                <a:latin typeface="Times New Roman" panose="02020603050405020304" pitchFamily="18" charset="0"/>
                <a:cs typeface="Times New Roman" panose="02020603050405020304" pitchFamily="18" charset="0"/>
              </a:rPr>
              <a:t>Medical imaging errors can significantly affect patient health. By combining advanced technology, AI support, skilled professionals, quality assurance, and effective communication, hospitals can minimize errors and provide safer, more accurate, and efficient healthcare services.</a:t>
            </a:r>
          </a:p>
          <a:p>
            <a:pPr marL="342900" indent="-342900">
              <a:buFont typeface="Wingdings" panose="05000000000000000000" pitchFamily="2" charset="2"/>
              <a:buChar char="Ø"/>
            </a:pPr>
            <a:endParaRPr lang="en-IN"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06528" y="2766218"/>
            <a:ext cx="3962401" cy="1325563"/>
          </a:xfrm>
        </p:spPr>
        <p:txBody>
          <a:bodyPr/>
          <a:lstStyle/>
          <a:p>
            <a:r>
              <a:rPr lang="en-IN" b="1" dirty="0">
                <a:solidFill>
                  <a:schemeClr val="tx1"/>
                </a:solidFill>
                <a:latin typeface="Times New Roman" panose="02020603050405020304" pitchFamily="18" charset="0"/>
                <a:cs typeface="Times New Roman" panose="02020603050405020304" pitchFamily="18" charset="0"/>
              </a:rPr>
              <a:t>THANK YOU ! </a:t>
            </a:r>
          </a:p>
        </p:txBody>
      </p:sp>
      <p:pic>
        <p:nvPicPr>
          <p:cNvPr id="4" name="Picture 3"/>
          <p:cNvPicPr>
            <a:picLocks noChangeAspect="1"/>
          </p:cNvPicPr>
          <p:nvPr/>
        </p:nvPicPr>
        <p:blipFill>
          <a:blip r:embed="rId2"/>
          <a:stretch>
            <a:fillRect/>
          </a:stretch>
        </p:blipFill>
        <p:spPr>
          <a:xfrm>
            <a:off x="9542141" y="349452"/>
            <a:ext cx="1524132" cy="1341236"/>
          </a:xfrm>
          <a:prstGeom prst="rect">
            <a:avLst/>
          </a:prstGeom>
        </p:spPr>
      </p:pic>
      <p:pic>
        <p:nvPicPr>
          <p:cNvPr id="5" name="Content Placeholder 4"/>
          <p:cNvPicPr>
            <a:picLocks noGrp="1" noChangeAspect="1"/>
          </p:cNvPicPr>
          <p:nvPr>
            <p:ph idx="1"/>
          </p:nvPr>
        </p:nvPicPr>
        <p:blipFill>
          <a:blip r:embed="rId3"/>
          <a:stretch>
            <a:fillRect/>
          </a:stretch>
        </p:blipFill>
        <p:spPr>
          <a:xfrm>
            <a:off x="663611" y="365125"/>
            <a:ext cx="1103472" cy="1341236"/>
          </a:xfrm>
          <a:prstGeom prst="rect">
            <a:avLst/>
          </a:prstGeom>
        </p:spPr>
      </p:pic>
    </p:spTree>
  </p:cSld>
  <p:clrMapOvr>
    <a:masterClrMapping/>
  </p:clrMapOvr>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1939</TotalTime>
  <Words>386</Words>
  <Application>Microsoft Office PowerPoint</Application>
  <PresentationFormat>Widescreen</PresentationFormat>
  <Paragraphs>48</Paragraphs>
  <Slides>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Times New Roman</vt:lpstr>
      <vt:lpstr>Wingdings</vt:lpstr>
      <vt:lpstr>Default Design</vt:lpstr>
      <vt:lpstr>PowerPoint Presentation</vt:lpstr>
      <vt:lpstr>PowerPoint Presentation</vt:lpstr>
      <vt:lpstr>Case Study</vt:lpstr>
      <vt:lpstr>System Architecture</vt:lpstr>
      <vt:lpstr>Causes of Medical Imaging Errors </vt:lpstr>
      <vt:lpstr>Improvements and Solutions</vt:lpstr>
      <vt:lpstr>PowerPoint Presentation</vt:lpstr>
      <vt:lpstr>THANK YOU !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sudha srinivas9177</dc:creator>
  <cp:lastModifiedBy>Pranay Deep Chowdary Bandaru</cp:lastModifiedBy>
  <cp:revision>14</cp:revision>
  <dcterms:created xsi:type="dcterms:W3CDTF">2025-11-07T15:59:00Z</dcterms:created>
  <dcterms:modified xsi:type="dcterms:W3CDTF">2026-07-21T05:00:43Z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20ECF8671DC44BF1A5075DAED789DEB3_12</vt:lpwstr>
  </property>
  <property fmtid="{D5CDD505-2E9C-101B-9397-08002B2CF9AE}" pid="3" name="KSOProductBuildVer">
    <vt:lpwstr>1033-12.2.0.22549</vt:lpwstr>
  </property>
</Properties>
</file>